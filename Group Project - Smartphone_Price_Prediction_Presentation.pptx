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70" r:id="rId4"/>
    <p:sldId id="271" r:id="rId5"/>
    <p:sldId id="279" r:id="rId6"/>
    <p:sldId id="260" r:id="rId7"/>
    <p:sldId id="272" r:id="rId8"/>
    <p:sldId id="280" r:id="rId9"/>
    <p:sldId id="283" r:id="rId10"/>
    <p:sldId id="281" r:id="rId11"/>
    <p:sldId id="282" r:id="rId12"/>
    <p:sldId id="275" r:id="rId13"/>
    <p:sldId id="276" r:id="rId14"/>
    <p:sldId id="277" r:id="rId15"/>
    <p:sldId id="27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6100" y="894362"/>
            <a:ext cx="8559800" cy="1986280"/>
          </a:xfrm>
        </p:spPr>
        <p:txBody>
          <a:bodyPr>
            <a:normAutofit/>
          </a:bodyPr>
          <a:lstStyle/>
          <a:p>
            <a:pPr>
              <a:defRPr sz="2800"/>
            </a:pPr>
            <a:r>
              <a:rPr sz="4000" dirty="0"/>
              <a:t>Smartphone Price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9720" y="3185442"/>
            <a:ext cx="9052560" cy="2529839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sz="2800" dirty="0">
                <a:solidFill>
                  <a:schemeClr val="tx1"/>
                </a:solidFill>
              </a:rPr>
              <a:t>Machine Learning Project</a:t>
            </a:r>
            <a:endParaRPr lang="en-IN" sz="2800" dirty="0">
              <a:solidFill>
                <a:schemeClr val="tx1"/>
              </a:solidFill>
            </a:endParaRPr>
          </a:p>
          <a:p>
            <a:pPr>
              <a:defRPr sz="2000"/>
            </a:pPr>
            <a:endParaRPr sz="2800" dirty="0"/>
          </a:p>
          <a:p>
            <a:pPr>
              <a:defRPr sz="2000"/>
            </a:pPr>
            <a:r>
              <a:rPr sz="2800" dirty="0">
                <a:solidFill>
                  <a:schemeClr val="tx1"/>
                </a:solidFill>
              </a:rPr>
              <a:t>by:</a:t>
            </a:r>
            <a:br>
              <a:rPr lang="en-IN" sz="2800" b="1" dirty="0">
                <a:solidFill>
                  <a:schemeClr val="tx1"/>
                </a:solidFill>
              </a:rPr>
            </a:br>
            <a:r>
              <a:rPr lang="en-IN" sz="2800" b="1" dirty="0">
                <a:solidFill>
                  <a:schemeClr val="tx1"/>
                </a:solidFill>
              </a:rPr>
              <a:t>Rohit Patil</a:t>
            </a:r>
            <a:br>
              <a:rPr lang="en-IN" sz="2800" b="1" dirty="0"/>
            </a:br>
            <a:endParaRPr sz="28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3AD969-7713-BEA2-D8F0-1CABBA5100A5}"/>
              </a:ext>
            </a:extLst>
          </p:cNvPr>
          <p:cNvSpPr/>
          <p:nvPr/>
        </p:nvSpPr>
        <p:spPr>
          <a:xfrm>
            <a:off x="0" y="0"/>
            <a:ext cx="12191695" cy="300000"/>
          </a:xfrm>
          <a:prstGeom prst="rect">
            <a:avLst/>
          </a:prstGeom>
          <a:solidFill>
            <a:srgbClr val="1E56A0"/>
          </a:solidFill>
          <a:ln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0000"/>
          </a:xfrm>
          <a:prstGeom prst="rect">
            <a:avLst/>
          </a:prstGeom>
          <a:solidFill>
            <a:srgbClr val="1E56A0"/>
          </a:solidFill>
          <a:ln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56A0"/>
                </a:solidFill>
              </a:defRPr>
            </a:pPr>
            <a:r>
              <a:rPr dirty="0"/>
              <a:t>🌍 Background &amp; Business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44320"/>
            <a:ext cx="1068832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282828"/>
                </a:solidFill>
              </a:defRPr>
            </a:pPr>
            <a:r>
              <a:rPr dirty="0"/>
              <a:t>• The Indian smartphone market is one of the fastest-growing consumer electronics markets.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rPr dirty="0"/>
              <a:t>• Prices vary across Amazon, Flipkart, Croma, Reliance Digital and Myntra.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rPr dirty="0"/>
              <a:t>• Machine learning helps estimate fair smartphone prices from hardware specifications.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930BD6-8EF7-819F-DDB8-AA18B6EDD159}"/>
              </a:ext>
            </a:extLst>
          </p:cNvPr>
          <p:cNvSpPr txBox="1"/>
          <p:nvPr/>
        </p:nvSpPr>
        <p:spPr>
          <a:xfrm>
            <a:off x="457200" y="3058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56A0"/>
                </a:solidFill>
              </a:defRPr>
            </a:pPr>
            <a:r>
              <a:rPr dirty="0"/>
              <a:t>❓ Problem Statement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BFB306-1481-6C17-0730-B1D3AAF57397}"/>
              </a:ext>
            </a:extLst>
          </p:cNvPr>
          <p:cNvSpPr txBox="1"/>
          <p:nvPr/>
        </p:nvSpPr>
        <p:spPr>
          <a:xfrm>
            <a:off x="640080" y="3616960"/>
            <a:ext cx="96824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282828"/>
                </a:solidFill>
              </a:defRPr>
            </a:pPr>
            <a:r>
              <a:rPr dirty="0"/>
              <a:t>• Develop a regression model to predict smartphone prices.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rPr dirty="0"/>
              <a:t>• Input features: Brand, RAM, Storage, Battery, Rating and Platform.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rPr dirty="0"/>
              <a:t>• Target variable: Listed Price (INR).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rPr dirty="0"/>
              <a:t>• Dataset size: 32,000 smartphone listings.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0000"/>
          </a:xfrm>
          <a:prstGeom prst="rect">
            <a:avLst/>
          </a:prstGeom>
          <a:solidFill>
            <a:srgbClr val="1E56A0"/>
          </a:solidFill>
          <a:ln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454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56A0"/>
                </a:solidFill>
              </a:defRPr>
            </a:pPr>
            <a:r>
              <a:rPr dirty="0"/>
              <a:t>🎯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82828"/>
                </a:solidFill>
              </a:defRPr>
            </a:pPr>
            <a:r>
              <a:t>• Build an accurate regression model.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t>• Analyze the impact of RAM, Storage and Battery.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t>• Compare Linear Regression, Random Forest, XGBoost and CatBoost.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t>• Evaluate using MAE, RMSE and R².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t>• Identify the most important features.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29A48B-0ACE-2D7E-46D0-1E8E21CBF46E}"/>
              </a:ext>
            </a:extLst>
          </p:cNvPr>
          <p:cNvSpPr txBox="1"/>
          <p:nvPr/>
        </p:nvSpPr>
        <p:spPr>
          <a:xfrm>
            <a:off x="457200" y="28803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56A0"/>
                </a:solidFill>
              </a:defRPr>
            </a:pPr>
            <a:r>
              <a:rPr dirty="0"/>
              <a:t>📊 Dataset Overview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96D26EF-7529-1706-CDFC-F4B7A8CFE7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698308"/>
              </p:ext>
            </p:extLst>
          </p:nvPr>
        </p:nvGraphicFramePr>
        <p:xfrm>
          <a:off x="640080" y="3439160"/>
          <a:ext cx="5811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858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858">
                <a:tc>
                  <a:txBody>
                    <a:bodyPr/>
                    <a:lstStyle/>
                    <a:p>
                      <a:r>
                        <a:t>🛒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858">
                <a:tc>
                  <a:txBody>
                    <a:bodyPr/>
                    <a:lstStyle/>
                    <a:p>
                      <a:r>
                        <a:t>🏷 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858">
                <a:tc>
                  <a:txBody>
                    <a:bodyPr/>
                    <a:lstStyle/>
                    <a:p>
                      <a:r>
                        <a:rPr dirty="0"/>
                        <a:t>📱 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858">
                <a:tc>
                  <a:txBody>
                    <a:bodyPr/>
                    <a:lstStyle/>
                    <a:p>
                      <a:r>
                        <a:rPr dirty="0"/>
                        <a:t>⭐ 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858">
                <a:tc>
                  <a:txBody>
                    <a:bodyPr/>
                    <a:lstStyle/>
                    <a:p>
                      <a:r>
                        <a:rPr dirty="0"/>
                        <a:t>💾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858">
                <a:tc>
                  <a:txBody>
                    <a:bodyPr/>
                    <a:lstStyle/>
                    <a:p>
                      <a:r>
                        <a:t>💽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858">
                <a:tc>
                  <a:txBody>
                    <a:bodyPr/>
                    <a:lstStyle/>
                    <a:p>
                      <a:r>
                        <a:t>🔋 Battery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858">
                <a:tc>
                  <a:txBody>
                    <a:bodyPr/>
                    <a:lstStyle/>
                    <a:p>
                      <a:r>
                        <a:t>💰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A12649D-7FBD-0A96-D8A9-786DB3585957}"/>
              </a:ext>
            </a:extLst>
          </p:cNvPr>
          <p:cNvSpPr txBox="1"/>
          <p:nvPr/>
        </p:nvSpPr>
        <p:spPr>
          <a:xfrm>
            <a:off x="6786879" y="4423360"/>
            <a:ext cx="340360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dirty="0"/>
              <a:t>📄 Total Records: 32,000</a:t>
            </a:r>
          </a:p>
          <a:p>
            <a:pPr>
              <a:defRPr sz="2000"/>
            </a:pPr>
            <a:r>
              <a:rPr dirty="0"/>
              <a:t>📊 Features: 10</a:t>
            </a:r>
          </a:p>
          <a:p>
            <a:pPr>
              <a:defRPr sz="2000"/>
            </a:pPr>
            <a:r>
              <a:rPr dirty="0"/>
              <a:t>🎯 Target: Price</a:t>
            </a:r>
          </a:p>
          <a:p>
            <a:pPr>
              <a:defRPr sz="2000"/>
            </a:pPr>
            <a:r>
              <a:rPr dirty="0"/>
              <a:t>💵 Range: ₹8,156–₹81,894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0000"/>
          </a:xfrm>
          <a:prstGeom prst="rect">
            <a:avLst/>
          </a:prstGeom>
          <a:solidFill>
            <a:srgbClr val="1E56A0"/>
          </a:solidFill>
          <a:ln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56A0"/>
                </a:solidFill>
              </a:defRPr>
            </a:pPr>
            <a:r>
              <a:rPr dirty="0"/>
              <a:t>📊 Dataset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14400"/>
          <a:ext cx="6400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🛒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🏷 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dirty="0"/>
                        <a:t>📱 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dirty="0"/>
                        <a:t>⭐ 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dirty="0"/>
                        <a:t>💾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💽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🔋 Battery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💰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914400"/>
            <a:ext cx="4114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📄 Total Records: 32,000</a:t>
            </a:r>
          </a:p>
          <a:p>
            <a:pPr>
              <a:defRPr sz="2000"/>
            </a:pPr>
            <a:r>
              <a:t>📊 Features: 10</a:t>
            </a:r>
          </a:p>
          <a:p>
            <a:pPr>
              <a:defRPr sz="2000"/>
            </a:pPr>
            <a:r>
              <a:t>🎯 Target: Price</a:t>
            </a:r>
          </a:p>
          <a:p>
            <a:pPr>
              <a:defRPr sz="2000"/>
            </a:pPr>
            <a:r>
              <a:t>💵 Range: ₹8,156–₹81,894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CC13D-5D2D-11C9-CE96-73D5DFAE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9293A1-816A-DA50-5659-2AE63525A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45" b="3555"/>
          <a:stretch>
            <a:fillRect/>
          </a:stretch>
        </p:blipFill>
        <p:spPr>
          <a:xfrm>
            <a:off x="5811889" y="460494"/>
            <a:ext cx="4927231" cy="630968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CD2198A-AC26-511D-5585-AEA36CF485DC}"/>
              </a:ext>
            </a:extLst>
          </p:cNvPr>
          <p:cNvSpPr/>
          <p:nvPr/>
        </p:nvSpPr>
        <p:spPr>
          <a:xfrm>
            <a:off x="0" y="0"/>
            <a:ext cx="12191695" cy="300000"/>
          </a:xfrm>
          <a:prstGeom prst="rect">
            <a:avLst/>
          </a:prstGeom>
          <a:solidFill>
            <a:srgbClr val="1E56A0"/>
          </a:solidFill>
          <a:ln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19BC60-E0B4-ABBA-2DBE-3559E8958700}"/>
              </a:ext>
            </a:extLst>
          </p:cNvPr>
          <p:cNvSpPr txBox="1"/>
          <p:nvPr/>
        </p:nvSpPr>
        <p:spPr>
          <a:xfrm>
            <a:off x="111760" y="724654"/>
            <a:ext cx="453334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Methodology &amp; Workflow - </a:t>
            </a:r>
          </a:p>
          <a:p>
            <a:endParaRPr lang="en-IN" sz="11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BC8FD51-18EE-8D46-1712-EEDD80EF7887}"/>
              </a:ext>
            </a:extLst>
          </p:cNvPr>
          <p:cNvSpPr txBox="1">
            <a:spLocks/>
          </p:cNvSpPr>
          <p:nvPr/>
        </p:nvSpPr>
        <p:spPr>
          <a:xfrm>
            <a:off x="457200" y="1600201"/>
            <a:ext cx="3210560" cy="261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§"/>
              <a:defRPr sz="2000"/>
            </a:pPr>
            <a:r>
              <a:rPr lang="en-US" sz="2000" dirty="0">
                <a:solidFill>
                  <a:schemeClr val="tx1"/>
                </a:solidFill>
              </a:rPr>
              <a:t>EDA</a:t>
            </a:r>
          </a:p>
          <a:p>
            <a:pPr marL="342900" indent="-342900" algn="l">
              <a:buFont typeface="Wingdings" panose="05000000000000000000" pitchFamily="2" charset="2"/>
              <a:buChar char="§"/>
              <a:defRPr sz="2000"/>
            </a:pPr>
            <a:r>
              <a:rPr lang="en-US" sz="2000" dirty="0">
                <a:solidFill>
                  <a:schemeClr val="tx1"/>
                </a:solidFill>
              </a:rPr>
              <a:t>Data Cleaning</a:t>
            </a:r>
          </a:p>
          <a:p>
            <a:pPr marL="342900" indent="-342900" algn="l">
              <a:buFont typeface="Wingdings" panose="05000000000000000000" pitchFamily="2" charset="2"/>
              <a:buChar char="§"/>
              <a:defRPr sz="2000"/>
            </a:pPr>
            <a:r>
              <a:rPr lang="en-US" sz="2000" dirty="0">
                <a:solidFill>
                  <a:schemeClr val="tx1"/>
                </a:solidFill>
              </a:rPr>
              <a:t>Feature Engineering</a:t>
            </a:r>
          </a:p>
          <a:p>
            <a:pPr marL="342900" indent="-342900" algn="l">
              <a:buFont typeface="Wingdings" panose="05000000000000000000" pitchFamily="2" charset="2"/>
              <a:buChar char="§"/>
              <a:defRPr sz="2000"/>
            </a:pPr>
            <a:r>
              <a:rPr lang="en-US" sz="2000" dirty="0">
                <a:solidFill>
                  <a:schemeClr val="tx1"/>
                </a:solidFill>
              </a:rPr>
              <a:t>Train-Test Split</a:t>
            </a:r>
          </a:p>
          <a:p>
            <a:pPr marL="342900" indent="-342900" algn="l">
              <a:buFont typeface="Wingdings" panose="05000000000000000000" pitchFamily="2" charset="2"/>
              <a:buChar char="§"/>
              <a:defRPr sz="2000"/>
            </a:pPr>
            <a:r>
              <a:rPr lang="en-US" sz="2000" dirty="0">
                <a:solidFill>
                  <a:schemeClr val="tx1"/>
                </a:solidFill>
              </a:rPr>
              <a:t>Model Development</a:t>
            </a:r>
          </a:p>
          <a:p>
            <a:pPr marL="342900" indent="-342900" algn="l">
              <a:buFont typeface="Wingdings" panose="05000000000000000000" pitchFamily="2" charset="2"/>
              <a:buChar char="§"/>
              <a:defRPr sz="2000"/>
            </a:pPr>
            <a:r>
              <a:rPr lang="en-US" sz="2000" dirty="0">
                <a:solidFill>
                  <a:schemeClr val="tx1"/>
                </a:solidFill>
              </a:rPr>
              <a:t>Hyperparameter Tuning</a:t>
            </a:r>
          </a:p>
          <a:p>
            <a:pPr marL="342900" indent="-342900" algn="l">
              <a:buFont typeface="Wingdings" panose="05000000000000000000" pitchFamily="2" charset="2"/>
              <a:buChar char="§"/>
              <a:defRPr sz="2000"/>
            </a:pPr>
            <a:r>
              <a:rPr lang="en-US" sz="2000" dirty="0">
                <a:solidFill>
                  <a:schemeClr val="tx1"/>
                </a:solidFill>
              </a:rPr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1278127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8C5CB7-7880-8A86-5053-56CEC86B9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10345"/>
            <a:ext cx="10546080" cy="58032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A6C86F-8BE0-1A43-21E0-19B78E468E95}"/>
              </a:ext>
            </a:extLst>
          </p:cNvPr>
          <p:cNvSpPr/>
          <p:nvPr/>
        </p:nvSpPr>
        <p:spPr>
          <a:xfrm>
            <a:off x="0" y="0"/>
            <a:ext cx="12191695" cy="300000"/>
          </a:xfrm>
          <a:prstGeom prst="rect">
            <a:avLst/>
          </a:prstGeom>
          <a:solidFill>
            <a:srgbClr val="1E56A0"/>
          </a:solidFill>
          <a:ln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" y="344365"/>
            <a:ext cx="3708400" cy="457199"/>
          </a:xfrm>
        </p:spPr>
        <p:txBody>
          <a:bodyPr>
            <a:normAutofit fontScale="90000"/>
          </a:bodyPr>
          <a:lstStyle/>
          <a:p>
            <a:pPr>
              <a:defRPr sz="2800"/>
            </a:pPr>
            <a:r>
              <a:rPr dirty="0"/>
              <a:t>Exploratory Data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F8D09-2C55-F636-96ED-CE5915A6E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5B5FF-5B7E-4B2F-B972-E384B962E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398194"/>
            <a:ext cx="6289040" cy="457199"/>
          </a:xfrm>
        </p:spPr>
        <p:txBody>
          <a:bodyPr>
            <a:normAutofit fontScale="90000"/>
          </a:bodyPr>
          <a:lstStyle/>
          <a:p>
            <a:pPr>
              <a:defRPr sz="2800"/>
            </a:pPr>
            <a:r>
              <a:rPr dirty="0"/>
              <a:t>Exploratory Data Analysis</a:t>
            </a:r>
            <a:r>
              <a:rPr lang="en-IN" dirty="0"/>
              <a:t> on </a:t>
            </a:r>
            <a:r>
              <a:rPr lang="en-IN" b="1" dirty="0"/>
              <a:t>Original Data Set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AEAC1-1EA4-0936-5DA0-E232020CD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" y="1082358"/>
            <a:ext cx="6004560" cy="1468120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sz="1600" dirty="0"/>
              <a:t>Price Distribution</a:t>
            </a:r>
          </a:p>
          <a:p>
            <a:pPr>
              <a:defRPr sz="2000"/>
            </a:pPr>
            <a:r>
              <a:rPr sz="1600" dirty="0"/>
              <a:t>Brand-wise Price Analysis</a:t>
            </a:r>
          </a:p>
          <a:p>
            <a:pPr>
              <a:defRPr sz="2000"/>
            </a:pPr>
            <a:r>
              <a:rPr sz="1600" dirty="0"/>
              <a:t>Correlation Heatmap</a:t>
            </a:r>
            <a:r>
              <a:rPr lang="en-IN" sz="1600" dirty="0"/>
              <a:t> (</a:t>
            </a:r>
            <a:r>
              <a:rPr sz="1600" dirty="0"/>
              <a:t>Observed relationships between hardware and price</a:t>
            </a:r>
            <a:r>
              <a:rPr lang="en-IN" sz="1600" dirty="0"/>
              <a:t>)</a:t>
            </a:r>
            <a:endParaRPr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375DDA-D4D7-DF82-135D-B3E0807B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683" y="306754"/>
            <a:ext cx="4795611" cy="4464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87D292-B0E9-ED08-B0DA-6D64B4796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2533746"/>
            <a:ext cx="5591968" cy="40155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64C81B-9BA1-7D6F-9B68-FFE42265A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7695" y="4720857"/>
            <a:ext cx="3823653" cy="207964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20E3305-06EF-B06A-8747-455B1620ADBC}"/>
              </a:ext>
            </a:extLst>
          </p:cNvPr>
          <p:cNvSpPr/>
          <p:nvPr/>
        </p:nvSpPr>
        <p:spPr>
          <a:xfrm>
            <a:off x="0" y="0"/>
            <a:ext cx="12191695" cy="300000"/>
          </a:xfrm>
          <a:prstGeom prst="rect">
            <a:avLst/>
          </a:prstGeom>
          <a:solidFill>
            <a:srgbClr val="1E56A0"/>
          </a:solidFill>
          <a:ln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45402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26294-3F75-B3DE-D06E-19ED6FD4D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" y="372769"/>
            <a:ext cx="7579360" cy="497522"/>
          </a:xfrm>
        </p:spPr>
        <p:txBody>
          <a:bodyPr>
            <a:noAutofit/>
          </a:bodyPr>
          <a:lstStyle/>
          <a:p>
            <a:pPr algn="l"/>
            <a:r>
              <a:rPr lang="en-IN" sz="2800" dirty="0"/>
              <a:t>Feature Engineering on </a:t>
            </a:r>
            <a:r>
              <a:rPr lang="en-IN" sz="2800" b="1" dirty="0"/>
              <a:t>Synthetic Data Set-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E604E6-C210-66B6-9185-19845EC65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533" y="1076960"/>
            <a:ext cx="6339827" cy="55981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AA293F8-5CEA-7DED-3A22-2475448DA826}"/>
              </a:ext>
            </a:extLst>
          </p:cNvPr>
          <p:cNvSpPr/>
          <p:nvPr/>
        </p:nvSpPr>
        <p:spPr>
          <a:xfrm>
            <a:off x="0" y="0"/>
            <a:ext cx="12191695" cy="300000"/>
          </a:xfrm>
          <a:prstGeom prst="rect">
            <a:avLst/>
          </a:prstGeom>
          <a:solidFill>
            <a:srgbClr val="1E56A0"/>
          </a:solidFill>
          <a:ln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F0C90EA-6143-AD7A-78FA-3A5A17CB43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882335"/>
              </p:ext>
            </p:extLst>
          </p:nvPr>
        </p:nvGraphicFramePr>
        <p:xfrm>
          <a:off x="294640" y="2545080"/>
          <a:ext cx="5212080" cy="1767840"/>
        </p:xfrm>
        <a:graphic>
          <a:graphicData uri="http://schemas.openxmlformats.org/drawingml/2006/table">
            <a:tbl>
              <a:tblPr/>
              <a:tblGrid>
                <a:gridCol w="2123440">
                  <a:extLst>
                    <a:ext uri="{9D8B030D-6E8A-4147-A177-3AD203B41FA5}">
                      <a16:colId xmlns:a16="http://schemas.microsoft.com/office/drawing/2014/main" val="2603790997"/>
                    </a:ext>
                  </a:extLst>
                </a:gridCol>
                <a:gridCol w="3088640">
                  <a:extLst>
                    <a:ext uri="{9D8B030D-6E8A-4147-A177-3AD203B41FA5}">
                      <a16:colId xmlns:a16="http://schemas.microsoft.com/office/drawing/2014/main" val="25478902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Attribute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Value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557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Dataset Composition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20,000 original + 12,000 synthetic records (provided with the dataset)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848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Data Usage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Synthetic</a:t>
                      </a:r>
                      <a:r>
                        <a:rPr lang="en-IN" sz="1600" dirty="0"/>
                        <a:t> data is selected during preprocessing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9292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695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070BD-7FB7-3279-0C0D-8EC25F218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815BD-1945-E0CE-7D7A-B3266DA69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4663440" cy="731202"/>
          </a:xfrm>
        </p:spPr>
        <p:txBody>
          <a:bodyPr>
            <a:normAutofit fontScale="90000"/>
          </a:bodyPr>
          <a:lstStyle/>
          <a:p>
            <a:r>
              <a:rPr lang="en-IN" dirty="0"/>
              <a:t>Linear Regression -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20008C-CE6E-0325-903C-6B5883445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1571625"/>
            <a:ext cx="9420225" cy="3714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2CD660-0695-7599-2925-C75D4E7C5E04}"/>
              </a:ext>
            </a:extLst>
          </p:cNvPr>
          <p:cNvSpPr txBox="1"/>
          <p:nvPr/>
        </p:nvSpPr>
        <p:spPr>
          <a:xfrm>
            <a:off x="1385887" y="5440362"/>
            <a:ext cx="35661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br>
              <a:rPr lang="en-I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MAE : 10097.452113510668 </a:t>
            </a:r>
            <a:br>
              <a:rPr lang="en-I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RMSE: 12472.829871244943 </a:t>
            </a:r>
            <a:br>
              <a:rPr lang="en-I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R2 : 0.4124635612367401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66864B-A8F3-8AC0-7473-AD9A6C49CC72}"/>
              </a:ext>
            </a:extLst>
          </p:cNvPr>
          <p:cNvSpPr/>
          <p:nvPr/>
        </p:nvSpPr>
        <p:spPr>
          <a:xfrm>
            <a:off x="0" y="0"/>
            <a:ext cx="12191695" cy="300000"/>
          </a:xfrm>
          <a:prstGeom prst="rect">
            <a:avLst/>
          </a:prstGeom>
          <a:solidFill>
            <a:srgbClr val="1E56A0"/>
          </a:solidFill>
          <a:ln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16755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49574-7BB0-3D8F-3FD6-99975EAE3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85FB1-7A0E-83AC-E8E5-1333E34EB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6187440" cy="710882"/>
          </a:xfrm>
        </p:spPr>
        <p:txBody>
          <a:bodyPr>
            <a:normAutofit fontScale="90000"/>
          </a:bodyPr>
          <a:lstStyle/>
          <a:p>
            <a:r>
              <a:rPr lang="en-IN" dirty="0"/>
              <a:t>Random Forest Regression -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BDC6DC-8A76-45BE-145C-E0A13620A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" y="1195705"/>
            <a:ext cx="9429750" cy="3714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C0B2C0-A222-CEEA-4C07-9F177A6234DF}"/>
              </a:ext>
            </a:extLst>
          </p:cNvPr>
          <p:cNvSpPr txBox="1"/>
          <p:nvPr/>
        </p:nvSpPr>
        <p:spPr>
          <a:xfrm>
            <a:off x="1385887" y="5377635"/>
            <a:ext cx="35661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- 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: 6351.767194440064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RMSE: 8174.5114241762385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  : 0.7476354089787355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0BB00C-D9F5-0266-C197-70CBA71334E5}"/>
              </a:ext>
            </a:extLst>
          </p:cNvPr>
          <p:cNvSpPr/>
          <p:nvPr/>
        </p:nvSpPr>
        <p:spPr>
          <a:xfrm>
            <a:off x="0" y="0"/>
            <a:ext cx="12191695" cy="300000"/>
          </a:xfrm>
          <a:prstGeom prst="rect">
            <a:avLst/>
          </a:prstGeom>
          <a:solidFill>
            <a:srgbClr val="1E56A0"/>
          </a:solidFill>
          <a:ln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970292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5100B-86B2-E622-C3A1-3DEFEC5D3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B8D83-DB23-5748-4520-C98E7BDFA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4886960" cy="79216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XGBoost</a:t>
            </a:r>
            <a:r>
              <a:rPr lang="en-IN" dirty="0"/>
              <a:t> Regression -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0482F3-C02A-8059-C710-8F10A4DB7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1301298"/>
            <a:ext cx="9410700" cy="3714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BEF1F4-2E38-FF77-5C21-8F6570C72A87}"/>
              </a:ext>
            </a:extLst>
          </p:cNvPr>
          <p:cNvSpPr txBox="1"/>
          <p:nvPr/>
        </p:nvSpPr>
        <p:spPr>
          <a:xfrm>
            <a:off x="1390650" y="525054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: 6107.2724609375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RMSE: 7792.19044941793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  : 0.7706895470619202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11B0EF-A112-F22E-0B42-7E12BAF2BD30}"/>
              </a:ext>
            </a:extLst>
          </p:cNvPr>
          <p:cNvSpPr/>
          <p:nvPr/>
        </p:nvSpPr>
        <p:spPr>
          <a:xfrm>
            <a:off x="0" y="0"/>
            <a:ext cx="12191695" cy="300000"/>
          </a:xfrm>
          <a:prstGeom prst="rect">
            <a:avLst/>
          </a:prstGeom>
          <a:solidFill>
            <a:srgbClr val="1E56A0"/>
          </a:solidFill>
          <a:ln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753238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D4E13-0B12-7196-1A5D-0A53353DE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438DB4-B5A8-A8BE-D155-FAA6474A4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948586"/>
              </p:ext>
            </p:extLst>
          </p:nvPr>
        </p:nvGraphicFramePr>
        <p:xfrm>
          <a:off x="1981200" y="2697480"/>
          <a:ext cx="8229600" cy="146304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126378064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64919145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41024395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1076204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Model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MAE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RMSE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R² Score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134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/>
                        <a:t>XGBoost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6,107.27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7,792.19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0.7707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772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6,351.77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8,174.51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0.7476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762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Linear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10,097.45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12,472.83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0.4125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39423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8919236-D5AD-6564-FD59-91603D59E0E8}"/>
              </a:ext>
            </a:extLst>
          </p:cNvPr>
          <p:cNvSpPr txBox="1"/>
          <p:nvPr/>
        </p:nvSpPr>
        <p:spPr>
          <a:xfrm>
            <a:off x="1981200" y="114121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Model Comparison: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7AC338-E154-807C-B1AC-F9B803FFC9F9}"/>
              </a:ext>
            </a:extLst>
          </p:cNvPr>
          <p:cNvSpPr/>
          <p:nvPr/>
        </p:nvSpPr>
        <p:spPr>
          <a:xfrm>
            <a:off x="0" y="0"/>
            <a:ext cx="12191695" cy="300000"/>
          </a:xfrm>
          <a:prstGeom prst="rect">
            <a:avLst/>
          </a:prstGeom>
          <a:solidFill>
            <a:srgbClr val="1E56A0"/>
          </a:solidFill>
          <a:ln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802717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A5687-2C41-28C9-1FE9-32A67A838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AAD067-BE11-D274-C3A0-C8AC0C5E1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1786255"/>
            <a:ext cx="7524750" cy="4667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41C641-9D4F-4E9C-C99D-06CD86620634}"/>
              </a:ext>
            </a:extLst>
          </p:cNvPr>
          <p:cNvSpPr txBox="1"/>
          <p:nvPr/>
        </p:nvSpPr>
        <p:spPr>
          <a:xfrm>
            <a:off x="508000" y="556455"/>
            <a:ext cx="6096000" cy="3401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1500"/>
              </a:lnSpc>
              <a:buNone/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 dirty="0"/>
              <a:t>Price Sensitivity: Effect of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C5A0AA-ED28-5ABF-34D4-E61CE8E7B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353246"/>
              </p:ext>
            </p:extLst>
          </p:nvPr>
        </p:nvGraphicFramePr>
        <p:xfrm>
          <a:off x="7768590" y="556455"/>
          <a:ext cx="4088130" cy="1645920"/>
        </p:xfrm>
        <a:graphic>
          <a:graphicData uri="http://schemas.openxmlformats.org/drawingml/2006/table">
            <a:tbl>
              <a:tblPr/>
              <a:tblGrid>
                <a:gridCol w="1362710">
                  <a:extLst>
                    <a:ext uri="{9D8B030D-6E8A-4147-A177-3AD203B41FA5}">
                      <a16:colId xmlns:a16="http://schemas.microsoft.com/office/drawing/2014/main" val="3248967900"/>
                    </a:ext>
                  </a:extLst>
                </a:gridCol>
                <a:gridCol w="1362710">
                  <a:extLst>
                    <a:ext uri="{9D8B030D-6E8A-4147-A177-3AD203B41FA5}">
                      <a16:colId xmlns:a16="http://schemas.microsoft.com/office/drawing/2014/main" val="456929598"/>
                    </a:ext>
                  </a:extLst>
                </a:gridCol>
                <a:gridCol w="1362710">
                  <a:extLst>
                    <a:ext uri="{9D8B030D-6E8A-4147-A177-3AD203B41FA5}">
                      <a16:colId xmlns:a16="http://schemas.microsoft.com/office/drawing/2014/main" val="965563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Model</a:t>
                      </a:r>
                      <a:endParaRPr lang="en-I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Price per +1 GB RAM (₹)</a:t>
                      </a:r>
                      <a:endParaRPr lang="en-IN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Price per +1 GB Storage (₹)</a:t>
                      </a:r>
                      <a:endParaRPr lang="en-I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450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Linear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6.11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-1.37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606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-1.90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-0.72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643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XGBoost</a:t>
                      </a:r>
                      <a:endParaRPr lang="en-IN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13.46</a:t>
                      </a:r>
                      <a:endParaRPr lang="en-IN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0.00</a:t>
                      </a:r>
                      <a:endParaRPr lang="en-I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79739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F525AD2-56D3-567C-EC4C-31516B66E6CD}"/>
              </a:ext>
            </a:extLst>
          </p:cNvPr>
          <p:cNvSpPr/>
          <p:nvPr/>
        </p:nvSpPr>
        <p:spPr>
          <a:xfrm>
            <a:off x="0" y="0"/>
            <a:ext cx="12191695" cy="300000"/>
          </a:xfrm>
          <a:prstGeom prst="rect">
            <a:avLst/>
          </a:prstGeom>
          <a:solidFill>
            <a:srgbClr val="1E56A0"/>
          </a:solidFill>
          <a:ln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19242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43B7F-C10A-0F3B-418F-8062A2347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FC7302-EA39-031C-B8BB-B18ECE591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137" y="1095375"/>
            <a:ext cx="8467725" cy="4667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9B93E1-EDB1-04DA-A3D6-8525297031E6}"/>
              </a:ext>
            </a:extLst>
          </p:cNvPr>
          <p:cNvSpPr txBox="1"/>
          <p:nvPr/>
        </p:nvSpPr>
        <p:spPr>
          <a:xfrm>
            <a:off x="497840" y="587079"/>
            <a:ext cx="3647440" cy="332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buNone/>
            </a:pPr>
            <a:r>
              <a:rPr lang="en-IN" sz="3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Brand Premium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FADD38-3672-6FB9-76FF-842A1FADF637}"/>
              </a:ext>
            </a:extLst>
          </p:cNvPr>
          <p:cNvSpPr/>
          <p:nvPr/>
        </p:nvSpPr>
        <p:spPr>
          <a:xfrm>
            <a:off x="0" y="0"/>
            <a:ext cx="12191695" cy="300000"/>
          </a:xfrm>
          <a:prstGeom prst="rect">
            <a:avLst/>
          </a:prstGeom>
          <a:solidFill>
            <a:srgbClr val="1E56A0"/>
          </a:solidFill>
          <a:ln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98654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FBC96-F188-E0D2-2F56-D3D17D6B7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9C7A7E-4927-E8DA-0BBF-38F33F92C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749" y="786566"/>
            <a:ext cx="7464501" cy="528486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3B896E-0AB2-4255-1594-2647767F3C71}"/>
              </a:ext>
            </a:extLst>
          </p:cNvPr>
          <p:cNvSpPr/>
          <p:nvPr/>
        </p:nvSpPr>
        <p:spPr>
          <a:xfrm>
            <a:off x="0" y="0"/>
            <a:ext cx="12191695" cy="300000"/>
          </a:xfrm>
          <a:prstGeom prst="rect">
            <a:avLst/>
          </a:prstGeom>
          <a:solidFill>
            <a:srgbClr val="1E56A0"/>
          </a:solidFill>
          <a:ln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61548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442</Words>
  <Application>Microsoft Office PowerPoint</Application>
  <PresentationFormat>Widescreen</PresentationFormat>
  <Paragraphs>124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Office Theme</vt:lpstr>
      <vt:lpstr>Smartphone Price Prediction Using Machine Learning</vt:lpstr>
      <vt:lpstr>PowerPoint Presentation</vt:lpstr>
      <vt:lpstr>PowerPoint Presentation</vt:lpstr>
      <vt:lpstr>PowerPoint Presentation</vt:lpstr>
      <vt:lpstr>PowerPoint Presentation</vt:lpstr>
      <vt:lpstr>Exploratory Data Analysis</vt:lpstr>
      <vt:lpstr>Exploratory Data Analysis on Original Data Set</vt:lpstr>
      <vt:lpstr>Feature Engineering on Synthetic Data Set-</vt:lpstr>
      <vt:lpstr>Linear Regression - </vt:lpstr>
      <vt:lpstr>Random Forest Regression - </vt:lpstr>
      <vt:lpstr>XGBoost Regression - 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 P Patil</cp:lastModifiedBy>
  <cp:revision>48</cp:revision>
  <dcterms:created xsi:type="dcterms:W3CDTF">2013-01-27T09:14:16Z</dcterms:created>
  <dcterms:modified xsi:type="dcterms:W3CDTF">2026-08-28T12:35:27Z</dcterms:modified>
  <cp:category/>
</cp:coreProperties>
</file>